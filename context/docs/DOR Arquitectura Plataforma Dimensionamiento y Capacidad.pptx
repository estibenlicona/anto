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C_A68A2596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78" r:id="rId5"/>
    <p:sldId id="281" r:id="rId6"/>
    <p:sldId id="279" r:id="rId7"/>
    <p:sldId id="272" r:id="rId8"/>
    <p:sldId id="280" r:id="rId9"/>
    <p:sldId id="268" r:id="rId10"/>
    <p:sldId id="266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59113F-4036-9668-9616-B668F43A9166}" name="Juan Manuel Arias Mejia" initials="JA" userId="S::Arq.jmam55@tuya.com.co::3bff69a6-70cb-463c-acb6-ff95d080928e" providerId="AD"/>
  <p188:author id="{444A35A2-03B7-A38E-3084-C2C7BD02E7CA}" name="Jorge Andres Quinchia" initials="JQ" userId="S::jaqui_x.86@tuya.com.co::077882de-f952-4644-af70-9ff8ae6124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DB9A39-B4ED-4FAE-9A7E-6BBE9971E00F}" v="7" dt="2026-07-23T19:35:48.1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tiben Alexander Licona Urrego" userId="7cfadfec-51ec-42dc-8484-74f53ca54cf5" providerId="ADAL" clId="{429F5647-30C0-4367-975C-2B63AAC3AF7E}"/>
    <pc:docChg chg="undo redo custSel addSld delSld modSld sldOrd">
      <pc:chgData name="Estiben Alexander Licona Urrego" userId="7cfadfec-51ec-42dc-8484-74f53ca54cf5" providerId="ADAL" clId="{429F5647-30C0-4367-975C-2B63AAC3AF7E}" dt="2026-07-23T19:47:16.800" v="834" actId="20577"/>
      <pc:docMkLst>
        <pc:docMk/>
      </pc:docMkLst>
      <pc:sldChg chg="delSp modSp mod">
        <pc:chgData name="Estiben Alexander Licona Urrego" userId="7cfadfec-51ec-42dc-8484-74f53ca54cf5" providerId="ADAL" clId="{429F5647-30C0-4367-975C-2B63AAC3AF7E}" dt="2026-07-23T19:47:16.800" v="834" actId="20577"/>
        <pc:sldMkLst>
          <pc:docMk/>
          <pc:sldMk cId="4119558146" sldId="266"/>
        </pc:sldMkLst>
        <pc:spChg chg="mod">
          <ac:chgData name="Estiben Alexander Licona Urrego" userId="7cfadfec-51ec-42dc-8484-74f53ca54cf5" providerId="ADAL" clId="{429F5647-30C0-4367-975C-2B63AAC3AF7E}" dt="2026-07-23T19:47:16.800" v="834" actId="20577"/>
          <ac:spMkLst>
            <pc:docMk/>
            <pc:sldMk cId="4119558146" sldId="266"/>
            <ac:spMk id="4" creationId="{33FF0875-B5D0-F30C-B386-2A4E2C15AF09}"/>
          </ac:spMkLst>
        </pc:spChg>
        <pc:picChg chg="del">
          <ac:chgData name="Estiben Alexander Licona Urrego" userId="7cfadfec-51ec-42dc-8484-74f53ca54cf5" providerId="ADAL" clId="{429F5647-30C0-4367-975C-2B63AAC3AF7E}" dt="2026-07-23T19:35:48.111" v="542" actId="478"/>
          <ac:picMkLst>
            <pc:docMk/>
            <pc:sldMk cId="4119558146" sldId="266"/>
            <ac:picMk id="5" creationId="{28B6E1CD-CB7E-1DF4-A0FF-B12F3B0B4D66}"/>
          </ac:picMkLst>
        </pc:picChg>
      </pc:sldChg>
      <pc:sldChg chg="modSp mod">
        <pc:chgData name="Estiben Alexander Licona Urrego" userId="7cfadfec-51ec-42dc-8484-74f53ca54cf5" providerId="ADAL" clId="{429F5647-30C0-4367-975C-2B63AAC3AF7E}" dt="2026-07-22T16:15:37.796" v="196" actId="20577"/>
        <pc:sldMkLst>
          <pc:docMk/>
          <pc:sldMk cId="2794071446" sldId="268"/>
        </pc:sldMkLst>
        <pc:spChg chg="mod">
          <ac:chgData name="Estiben Alexander Licona Urrego" userId="7cfadfec-51ec-42dc-8484-74f53ca54cf5" providerId="ADAL" clId="{429F5647-30C0-4367-975C-2B63AAC3AF7E}" dt="2026-07-22T16:15:37.796" v="196" actId="20577"/>
          <ac:spMkLst>
            <pc:docMk/>
            <pc:sldMk cId="2794071446" sldId="268"/>
            <ac:spMk id="4" creationId="{DAA16109-8426-81B7-AE9B-D69A9D31CC9E}"/>
          </ac:spMkLst>
        </pc:spChg>
      </pc:sldChg>
      <pc:sldChg chg="modSp mod">
        <pc:chgData name="Estiben Alexander Licona Urrego" userId="7cfadfec-51ec-42dc-8484-74f53ca54cf5" providerId="ADAL" clId="{429F5647-30C0-4367-975C-2B63AAC3AF7E}" dt="2026-07-22T16:06:20.792" v="173" actId="20577"/>
        <pc:sldMkLst>
          <pc:docMk/>
          <pc:sldMk cId="1917719216" sldId="272"/>
        </pc:sldMkLst>
        <pc:spChg chg="mod">
          <ac:chgData name="Estiben Alexander Licona Urrego" userId="7cfadfec-51ec-42dc-8484-74f53ca54cf5" providerId="ADAL" clId="{429F5647-30C0-4367-975C-2B63AAC3AF7E}" dt="2026-07-22T16:06:20.792" v="173" actId="20577"/>
          <ac:spMkLst>
            <pc:docMk/>
            <pc:sldMk cId="1917719216" sldId="272"/>
            <ac:spMk id="3" creationId="{1FFDF292-315F-618D-7698-C22998C3A678}"/>
          </ac:spMkLst>
        </pc:spChg>
      </pc:sldChg>
      <pc:sldChg chg="del mod modShow">
        <pc:chgData name="Estiben Alexander Licona Urrego" userId="7cfadfec-51ec-42dc-8484-74f53ca54cf5" providerId="ADAL" clId="{429F5647-30C0-4367-975C-2B63AAC3AF7E}" dt="2026-07-23T19:35:35.894" v="541" actId="2696"/>
        <pc:sldMkLst>
          <pc:docMk/>
          <pc:sldMk cId="1873818288" sldId="273"/>
        </pc:sldMkLst>
      </pc:sldChg>
      <pc:sldChg chg="addSp delSp modSp mod">
        <pc:chgData name="Estiben Alexander Licona Urrego" userId="7cfadfec-51ec-42dc-8484-74f53ca54cf5" providerId="ADAL" clId="{429F5647-30C0-4367-975C-2B63AAC3AF7E}" dt="2026-07-23T19:18:40.779" v="242" actId="478"/>
        <pc:sldMkLst>
          <pc:docMk/>
          <pc:sldMk cId="379017112" sldId="278"/>
        </pc:sldMkLst>
        <pc:spChg chg="mod">
          <ac:chgData name="Estiben Alexander Licona Urrego" userId="7cfadfec-51ec-42dc-8484-74f53ca54cf5" providerId="ADAL" clId="{429F5647-30C0-4367-975C-2B63AAC3AF7E}" dt="2026-07-23T19:18:36.782" v="241" actId="20577"/>
          <ac:spMkLst>
            <pc:docMk/>
            <pc:sldMk cId="379017112" sldId="278"/>
            <ac:spMk id="2" creationId="{3B1255D6-BBA0-BFD8-589D-AA1844EEF8D1}"/>
          </ac:spMkLst>
        </pc:spChg>
        <pc:spChg chg="del">
          <ac:chgData name="Estiben Alexander Licona Urrego" userId="7cfadfec-51ec-42dc-8484-74f53ca54cf5" providerId="ADAL" clId="{429F5647-30C0-4367-975C-2B63AAC3AF7E}" dt="2026-07-23T19:18:40.779" v="242" actId="478"/>
          <ac:spMkLst>
            <pc:docMk/>
            <pc:sldMk cId="379017112" sldId="278"/>
            <ac:spMk id="3" creationId="{1578F59C-2699-020C-30DC-DA73AD3117FC}"/>
          </ac:spMkLst>
        </pc:spChg>
        <pc:spChg chg="add mod">
          <ac:chgData name="Estiben Alexander Licona Urrego" userId="7cfadfec-51ec-42dc-8484-74f53ca54cf5" providerId="ADAL" clId="{429F5647-30C0-4367-975C-2B63AAC3AF7E}" dt="2026-07-23T19:18:40.779" v="242" actId="478"/>
          <ac:spMkLst>
            <pc:docMk/>
            <pc:sldMk cId="379017112" sldId="278"/>
            <ac:spMk id="5" creationId="{F0CA27A6-0D29-B3BA-1AE0-72FEAFC2F42F}"/>
          </ac:spMkLst>
        </pc:spChg>
      </pc:sldChg>
      <pc:sldChg chg="delSp modSp mod">
        <pc:chgData name="Estiben Alexander Licona Urrego" userId="7cfadfec-51ec-42dc-8484-74f53ca54cf5" providerId="ADAL" clId="{429F5647-30C0-4367-975C-2B63AAC3AF7E}" dt="2026-07-23T19:33:19.151" v="539" actId="14100"/>
        <pc:sldMkLst>
          <pc:docMk/>
          <pc:sldMk cId="228459455" sldId="279"/>
        </pc:sldMkLst>
        <pc:graphicFrameChg chg="del mod modGraphic">
          <ac:chgData name="Estiben Alexander Licona Urrego" userId="7cfadfec-51ec-42dc-8484-74f53ca54cf5" providerId="ADAL" clId="{429F5647-30C0-4367-975C-2B63AAC3AF7E}" dt="2026-07-22T15:56:46.301" v="107" actId="478"/>
          <ac:graphicFrameMkLst>
            <pc:docMk/>
            <pc:sldMk cId="228459455" sldId="279"/>
            <ac:graphicFrameMk id="2" creationId="{78EFF017-CD66-8054-4050-2FCBA2652AAB}"/>
          </ac:graphicFrameMkLst>
        </pc:graphicFrameChg>
        <pc:graphicFrameChg chg="mod modGraphic">
          <ac:chgData name="Estiben Alexander Licona Urrego" userId="7cfadfec-51ec-42dc-8484-74f53ca54cf5" providerId="ADAL" clId="{429F5647-30C0-4367-975C-2B63AAC3AF7E}" dt="2026-07-23T19:33:19.151" v="539" actId="14100"/>
          <ac:graphicFrameMkLst>
            <pc:docMk/>
            <pc:sldMk cId="228459455" sldId="279"/>
            <ac:graphicFrameMk id="6" creationId="{0364020C-143C-84C0-72CB-D505732C7F1F}"/>
          </ac:graphicFrameMkLst>
        </pc:graphicFrameChg>
      </pc:sldChg>
      <pc:sldChg chg="modSp mod">
        <pc:chgData name="Estiben Alexander Licona Urrego" userId="7cfadfec-51ec-42dc-8484-74f53ca54cf5" providerId="ADAL" clId="{429F5647-30C0-4367-975C-2B63AAC3AF7E}" dt="2026-07-22T16:11:07.675" v="179" actId="12"/>
        <pc:sldMkLst>
          <pc:docMk/>
          <pc:sldMk cId="4143848401" sldId="280"/>
        </pc:sldMkLst>
        <pc:spChg chg="mod">
          <ac:chgData name="Estiben Alexander Licona Urrego" userId="7cfadfec-51ec-42dc-8484-74f53ca54cf5" providerId="ADAL" clId="{429F5647-30C0-4367-975C-2B63AAC3AF7E}" dt="2026-07-22T16:11:07.675" v="179" actId="12"/>
          <ac:spMkLst>
            <pc:docMk/>
            <pc:sldMk cId="4143848401" sldId="280"/>
            <ac:spMk id="8" creationId="{5FEDC71C-F7D5-391D-9D32-1166B87B3D89}"/>
          </ac:spMkLst>
        </pc:spChg>
      </pc:sldChg>
      <pc:sldChg chg="delSp modSp add mod ord">
        <pc:chgData name="Estiben Alexander Licona Urrego" userId="7cfadfec-51ec-42dc-8484-74f53ca54cf5" providerId="ADAL" clId="{429F5647-30C0-4367-975C-2B63AAC3AF7E}" dt="2026-07-23T19:31:40.507" v="535" actId="20577"/>
        <pc:sldMkLst>
          <pc:docMk/>
          <pc:sldMk cId="3910381714" sldId="281"/>
        </pc:sldMkLst>
        <pc:graphicFrameChg chg="mod modGraphic">
          <ac:chgData name="Estiben Alexander Licona Urrego" userId="7cfadfec-51ec-42dc-8484-74f53ca54cf5" providerId="ADAL" clId="{429F5647-30C0-4367-975C-2B63AAC3AF7E}" dt="2026-07-23T19:31:40.507" v="535" actId="20577"/>
          <ac:graphicFrameMkLst>
            <pc:docMk/>
            <pc:sldMk cId="3910381714" sldId="281"/>
            <ac:graphicFrameMk id="2" creationId="{E7841B75-C34A-41FB-6FE6-EF8C9AADE5A9}"/>
          </ac:graphicFrameMkLst>
        </pc:graphicFrameChg>
        <pc:graphicFrameChg chg="del">
          <ac:chgData name="Estiben Alexander Licona Urrego" userId="7cfadfec-51ec-42dc-8484-74f53ca54cf5" providerId="ADAL" clId="{429F5647-30C0-4367-975C-2B63AAC3AF7E}" dt="2026-07-22T15:50:29.526" v="76" actId="478"/>
          <ac:graphicFrameMkLst>
            <pc:docMk/>
            <pc:sldMk cId="3910381714" sldId="281"/>
            <ac:graphicFrameMk id="6" creationId="{16189EB8-BC27-0D7B-6969-3FEABD5AC9D6}"/>
          </ac:graphicFrameMkLst>
        </pc:graphicFrameChg>
      </pc:sldChg>
    </pc:docChg>
  </pc:docChgLst>
</pc:chgInfo>
</file>

<file path=ppt/comments/modernComment_10C_A68A259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114A64F-DE5C-4DDD-A51D-99F1B8D4BFF9}" authorId="{6A59113F-4036-9668-9616-B668F43A9166}" created="2026-03-27T16:52:57.91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94071446" sldId="268"/>
      <ac:spMk id="3" creationId="{F63B21B0-3B43-38D7-34DA-56AA1EB040F0}"/>
      <ac:txMk cp="39" len="7">
        <ac:context len="49" hash="3220067653"/>
      </ac:txMk>
    </ac:txMkLst>
    <p188:pos x="5903605" y="322214"/>
    <p188:replyLst>
      <p188:reply id="{374427A6-665B-4784-85E0-F1F1EBF46533}" authorId="{444A35A2-03B7-A38E-3084-C2C7BD02E7CA}" created="2026-04-11T16:13:48.023">
        <p188:txBody>
          <a:bodyPr/>
          <a:lstStyle/>
          <a:p>
            <a:r>
              <a:rPr lang="es-CO"/>
              <a:t>Para los requisitos funcionales y No funcionales, la ideas es que el PO y/o equipo funcional, se apoyen de las personas de TI para describir de manera mas clara los requisitos necesarios.</a:t>
            </a:r>
          </a:p>
        </p188:txBody>
      </p188:reply>
    </p188:replyLst>
    <p188:txBody>
      <a:bodyPr/>
      <a:lstStyle/>
      <a:p>
        <a:r>
          <a:rPr lang="es-CO"/>
          <a:t>A que se refiere este acompañamiento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C7561-2243-4AD9-A11E-E3EC22DFD222}" type="datetimeFigureOut">
              <a:rPr lang="es-CO" smtClean="0"/>
              <a:t>23/07/2026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22CE76-BA6D-479B-A084-C154A2BD29D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1087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6C63E-4E9B-4491-9498-D328ECC241D8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3276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2F742-AD6B-4FF3-8049-BD2BFA266A98}" type="datetimeFigureOut">
              <a:rPr lang="es-CO" smtClean="0"/>
              <a:t>23/07/2026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4019-0FBD-4B3D-B9CA-EA62820843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43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2F742-AD6B-4FF3-8049-BD2BFA266A98}" type="datetimeFigureOut">
              <a:rPr lang="es-CO" smtClean="0"/>
              <a:t>23/07/2026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4019-0FBD-4B3D-B9CA-EA62820843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3849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2F742-AD6B-4FF3-8049-BD2BFA266A98}" type="datetimeFigureOut">
              <a:rPr lang="es-CO" smtClean="0"/>
              <a:t>23/07/2026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4019-0FBD-4B3D-B9CA-EA62820843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7697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2F742-AD6B-4FF3-8049-BD2BFA266A98}" type="datetimeFigureOut">
              <a:rPr lang="es-CO" smtClean="0"/>
              <a:t>23/07/2026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4019-0FBD-4B3D-B9CA-EA62820843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9635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2F742-AD6B-4FF3-8049-BD2BFA266A98}" type="datetimeFigureOut">
              <a:rPr lang="es-CO" smtClean="0"/>
              <a:t>23/07/2026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4019-0FBD-4B3D-B9CA-EA62820843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7715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2F742-AD6B-4FF3-8049-BD2BFA266A98}" type="datetimeFigureOut">
              <a:rPr lang="es-CO" smtClean="0"/>
              <a:t>23/07/2026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4019-0FBD-4B3D-B9CA-EA62820843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5401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2F742-AD6B-4FF3-8049-BD2BFA266A98}" type="datetimeFigureOut">
              <a:rPr lang="es-CO" smtClean="0"/>
              <a:t>23/07/2026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4019-0FBD-4B3D-B9CA-EA62820843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4217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2F742-AD6B-4FF3-8049-BD2BFA266A98}" type="datetimeFigureOut">
              <a:rPr lang="es-CO" smtClean="0"/>
              <a:t>23/07/2026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4019-0FBD-4B3D-B9CA-EA62820843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6836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2F742-AD6B-4FF3-8049-BD2BFA266A98}" type="datetimeFigureOut">
              <a:rPr lang="es-CO" smtClean="0"/>
              <a:t>23/07/2026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4019-0FBD-4B3D-B9CA-EA62820843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7710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2F742-AD6B-4FF3-8049-BD2BFA266A98}" type="datetimeFigureOut">
              <a:rPr lang="es-CO" smtClean="0"/>
              <a:t>23/07/2026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4019-0FBD-4B3D-B9CA-EA62820843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5854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2F742-AD6B-4FF3-8049-BD2BFA266A98}" type="datetimeFigureOut">
              <a:rPr lang="es-CO" smtClean="0"/>
              <a:t>23/07/2026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94019-0FBD-4B3D-B9CA-EA62820843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225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2F742-AD6B-4FF3-8049-BD2BFA266A98}" type="datetimeFigureOut">
              <a:rPr lang="es-CO" smtClean="0"/>
              <a:t>23/07/2026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94019-0FBD-4B3D-B9CA-EA62820843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543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C_A68A259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255D6-BBA0-BFD8-589D-AA1844EEF8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O" b="1" dirty="0"/>
              <a:t>DOR: PLATAFORMA CAPACIDAD Y DIMENSIONAMIENTO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F0CA27A6-0D29-B3BA-1AE0-72FEAFC2F4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017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8DDB2-28DB-4DC4-39B3-FAE3B7D54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8642D43D-D17E-3045-9789-1E514FFE4A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5827" y="5945253"/>
            <a:ext cx="892999" cy="892999"/>
          </a:xfrm>
          <a:prstGeom prst="rect">
            <a:avLst/>
          </a:prstGeom>
        </p:spPr>
      </p:pic>
      <p:sp>
        <p:nvSpPr>
          <p:cNvPr id="5" name="Rectángulo redondeado 8">
            <a:extLst>
              <a:ext uri="{FF2B5EF4-FFF2-40B4-BE49-F238E27FC236}">
                <a16:creationId xmlns:a16="http://schemas.microsoft.com/office/drawing/2014/main" id="{8019146F-9389-09DA-9875-D5163D3DC089}"/>
              </a:ext>
            </a:extLst>
          </p:cNvPr>
          <p:cNvSpPr/>
          <p:nvPr/>
        </p:nvSpPr>
        <p:spPr>
          <a:xfrm>
            <a:off x="93174" y="129040"/>
            <a:ext cx="12005652" cy="6604269"/>
          </a:xfrm>
          <a:prstGeom prst="roundRect">
            <a:avLst>
              <a:gd name="adj" fmla="val 8385"/>
            </a:avLst>
          </a:prstGeom>
          <a:noFill/>
          <a:ln w="76200">
            <a:solidFill>
              <a:srgbClr val="9BB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Roboto" pitchFamily="2" charset="0"/>
              <a:ea typeface="Roboto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7841B75-C34A-41FB-6FE6-EF8C9AADE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277717"/>
              </p:ext>
            </p:extLst>
          </p:nvPr>
        </p:nvGraphicFramePr>
        <p:xfrm>
          <a:off x="267907" y="798391"/>
          <a:ext cx="11516043" cy="4968240"/>
        </p:xfrm>
        <a:graphic>
          <a:graphicData uri="http://schemas.openxmlformats.org/drawingml/2006/table">
            <a:tbl>
              <a:tblPr/>
              <a:tblGrid>
                <a:gridCol w="11516043">
                  <a:extLst>
                    <a:ext uri="{9D8B030D-6E8A-4147-A177-3AD203B41FA5}">
                      <a16:colId xmlns:a16="http://schemas.microsoft.com/office/drawing/2014/main" val="67386449"/>
                    </a:ext>
                  </a:extLst>
                </a:gridCol>
              </a:tblGrid>
              <a:tr h="13502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s-CO" sz="1400" b="1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1.Nombre de la Iniciativa: </a:t>
                      </a:r>
                      <a:r>
                        <a:rPr lang="es-CO" sz="1400" b="0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Plataforma Capacidad y Dimensionamiento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058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s-CO" sz="1400" b="1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2.Área Solicitante: </a:t>
                      </a:r>
                      <a:r>
                        <a:rPr lang="es-CO" sz="1400" b="0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Diseño Organizacional Y Conocimiento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814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s-CO" sz="1400" b="1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3.Alcance por fases y entregables:</a:t>
                      </a: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s-CO" sz="1400" b="0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La plataforma permite evaluar y dimensionar iniciativas de TI (talla, complejidad, esfuerzo, FTE y </a:t>
                      </a:r>
                      <a:r>
                        <a:rPr lang="es-CO" sz="1400" b="0" kern="1200" dirty="0" err="1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mix</a:t>
                      </a:r>
                      <a:r>
                        <a:rPr lang="es-CO" sz="1400" b="0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 de capacidades con SFIA-TUYA) y gestionarlas en un portafolio; registrar el equipo de personas con su rol, nivel, FTE, y asignarlo a las iniciativas por porcentaje de dedicación con control de cobertura y utilización; comparar automáticamente la capacidad disponible contra la demanda de las iniciativas activas para ver brechas y balance; planear en un </a:t>
                      </a:r>
                      <a:r>
                        <a:rPr lang="es-CO" sz="1400" b="0" kern="1200" dirty="0" err="1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roadmap</a:t>
                      </a:r>
                      <a:r>
                        <a:rPr lang="es-CO" sz="1400" b="0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 por </a:t>
                      </a:r>
                      <a:r>
                        <a:rPr lang="es-CO" sz="1400" b="0" kern="1200" dirty="0" err="1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sprints</a:t>
                      </a:r>
                      <a:r>
                        <a:rPr lang="es-CO" sz="1400" b="0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, calibrar estimaciones frente a datos reales y recalibrar los parámetros del modelo.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="1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4.Stakeholders/</a:t>
                      </a:r>
                      <a:r>
                        <a:rPr lang="es-CO" sz="1400" b="1" kern="1200" dirty="0" err="1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Teams</a:t>
                      </a:r>
                      <a:r>
                        <a:rPr lang="es-CO" sz="1400" b="1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 </a:t>
                      </a:r>
                      <a:r>
                        <a:rPr lang="es-CO" sz="1400" b="1" kern="1200" dirty="0" err="1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members</a:t>
                      </a:r>
                      <a:r>
                        <a:rPr lang="es-CO" sz="1400" b="1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/ actores  involucrados: </a:t>
                      </a: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s-CO" sz="1400" b="0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Diseño Organizacional Y Conocimiento: Melissa Restrepo Mejia, Luisa Fernanda Mejia Gallego</a:t>
                      </a: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s-CO" sz="1400" b="0" kern="1200" dirty="0" err="1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Ingenieria</a:t>
                      </a:r>
                      <a:r>
                        <a:rPr lang="es-CO" sz="1400" b="0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 De Software: Adolfo Leon Munera Cano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="1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5.Priorización y/o urgencia:</a:t>
                      </a:r>
                      <a:r>
                        <a:rPr lang="es-CO" sz="1400" b="0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="0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Para el Q3 de 2026, esta plataforma será un habilitador clave para gestionar la capacidad y priorizar mejor las iniciativas; además, cobra aún más relevancia con la creación del nuevo rol organizacional que concentrará varias funciones. También permitirá tener una visión integral de las capacidades, mejorar su distribución entre las células y facilitar un rebalanceo más ágil según la demanda, logrando una asignación más eficiente de los recursos y un aporte directo al indicador de eficiencia de la compañía.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1197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70C1FAC0-A3CA-6460-0447-8C20F0061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903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>
              <a:latin typeface="Roboto" pitchFamily="2" charset="0"/>
              <a:ea typeface="Roboto" pitchFamily="2" charset="0"/>
            </a:endParaRPr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22DC5192-AAC0-1212-3D38-90B0756111CB}"/>
              </a:ext>
            </a:extLst>
          </p:cNvPr>
          <p:cNvSpPr/>
          <p:nvPr/>
        </p:nvSpPr>
        <p:spPr>
          <a:xfrm>
            <a:off x="482259" y="343150"/>
            <a:ext cx="2610799" cy="455241"/>
          </a:xfrm>
          <a:prstGeom prst="roundRect">
            <a:avLst>
              <a:gd name="adj" fmla="val 21414"/>
            </a:avLst>
          </a:prstGeom>
          <a:solidFill>
            <a:srgbClr val="9BB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90000"/>
              </a:lnSpc>
              <a:spcBef>
                <a:spcPts val="1000"/>
              </a:spcBef>
              <a:defRPr/>
            </a:pPr>
            <a:r>
              <a:rPr lang="es-CO" sz="2000" b="1" dirty="0">
                <a:solidFill>
                  <a:schemeClr val="tx1"/>
                </a:solidFill>
                <a:latin typeface="Roboto" pitchFamily="2" charset="0"/>
                <a:ea typeface="Roboto" pitchFamily="2" charset="0"/>
                <a:cs typeface="Arial" panose="020B0604020202020204" pitchFamily="34" charset="0"/>
              </a:rPr>
              <a:t>Datos del Proyecto</a:t>
            </a:r>
          </a:p>
        </p:txBody>
      </p:sp>
    </p:spTree>
    <p:extLst>
      <p:ext uri="{BB962C8B-B14F-4D97-AF65-F5344CB8AC3E}">
        <p14:creationId xmlns:p14="http://schemas.microsoft.com/office/powerpoint/2010/main" val="3910381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13C5E-A9E8-F2D8-A015-712733A6E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1C85D4B4-1100-044B-BED9-859E363B4F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5827" y="5945253"/>
            <a:ext cx="892999" cy="892999"/>
          </a:xfrm>
          <a:prstGeom prst="rect">
            <a:avLst/>
          </a:prstGeom>
        </p:spPr>
      </p:pic>
      <p:sp>
        <p:nvSpPr>
          <p:cNvPr id="5" name="Rectángulo redondeado 8">
            <a:extLst>
              <a:ext uri="{FF2B5EF4-FFF2-40B4-BE49-F238E27FC236}">
                <a16:creationId xmlns:a16="http://schemas.microsoft.com/office/drawing/2014/main" id="{D0351D96-D079-857F-3B7A-41EF5B952697}"/>
              </a:ext>
            </a:extLst>
          </p:cNvPr>
          <p:cNvSpPr/>
          <p:nvPr/>
        </p:nvSpPr>
        <p:spPr>
          <a:xfrm>
            <a:off x="93174" y="129040"/>
            <a:ext cx="12005652" cy="6604269"/>
          </a:xfrm>
          <a:prstGeom prst="roundRect">
            <a:avLst>
              <a:gd name="adj" fmla="val 8385"/>
            </a:avLst>
          </a:prstGeom>
          <a:noFill/>
          <a:ln w="76200">
            <a:solidFill>
              <a:srgbClr val="9BB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Roboto" pitchFamily="2" charset="0"/>
              <a:ea typeface="Roboto" pitchFamily="2" charset="0"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0A57920-7ACC-3103-726B-309E4C927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903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>
              <a:latin typeface="Roboto" pitchFamily="2" charset="0"/>
              <a:ea typeface="Roboto" pitchFamily="2" charset="0"/>
            </a:endParaRPr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47E5A669-B3E1-39EC-802C-6F9F6012931C}"/>
              </a:ext>
            </a:extLst>
          </p:cNvPr>
          <p:cNvSpPr/>
          <p:nvPr/>
        </p:nvSpPr>
        <p:spPr>
          <a:xfrm>
            <a:off x="482259" y="343150"/>
            <a:ext cx="2610799" cy="455241"/>
          </a:xfrm>
          <a:prstGeom prst="roundRect">
            <a:avLst>
              <a:gd name="adj" fmla="val 21414"/>
            </a:avLst>
          </a:prstGeom>
          <a:solidFill>
            <a:srgbClr val="9BB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90000"/>
              </a:lnSpc>
              <a:spcBef>
                <a:spcPts val="1000"/>
              </a:spcBef>
              <a:defRPr/>
            </a:pPr>
            <a:r>
              <a:rPr lang="es-CO" sz="2000" b="1" dirty="0">
                <a:solidFill>
                  <a:schemeClr val="tx1"/>
                </a:solidFill>
                <a:latin typeface="Roboto" pitchFamily="2" charset="0"/>
                <a:ea typeface="Roboto" pitchFamily="2" charset="0"/>
                <a:cs typeface="Arial" panose="020B0604020202020204" pitchFamily="34" charset="0"/>
              </a:rPr>
              <a:t>Datos del Proyecto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0364020C-143C-84C0-72CB-D505732C7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88804"/>
              </p:ext>
            </p:extLst>
          </p:nvPr>
        </p:nvGraphicFramePr>
        <p:xfrm>
          <a:off x="302085" y="926149"/>
          <a:ext cx="11796741" cy="1976874"/>
        </p:xfrm>
        <a:graphic>
          <a:graphicData uri="http://schemas.openxmlformats.org/drawingml/2006/table">
            <a:tbl>
              <a:tblPr/>
              <a:tblGrid>
                <a:gridCol w="11796741">
                  <a:extLst>
                    <a:ext uri="{9D8B030D-6E8A-4147-A177-3AD203B41FA5}">
                      <a16:colId xmlns:a16="http://schemas.microsoft.com/office/drawing/2014/main" val="67386449"/>
                    </a:ext>
                  </a:extLst>
                </a:gridCol>
              </a:tblGrid>
              <a:tr h="19768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 b="1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6.</a:t>
                      </a:r>
                      <a:r>
                        <a:rPr lang="es-CO" sz="1400" b="1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  <a:sym typeface="Proxima Nova"/>
                        </a:rPr>
                        <a:t>Indicadores a perseguir: 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s-CO" sz="1400" b="0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Eficiencia: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CO" sz="1400" b="0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Precisión de estimación: desviación entre FTE/esfuerzo estimado vs. real.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CO" sz="1400" b="0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Cobertura de demanda: % de iniciativas activas con capacidad suficiente asignada por rol.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CO" sz="1400" b="0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Utilización de capacidad: % de utilización de las células, evitando </a:t>
                      </a:r>
                      <a:r>
                        <a:rPr lang="es-CO" sz="1400" b="0" kern="1200" dirty="0" err="1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sobre-asignación</a:t>
                      </a:r>
                      <a:r>
                        <a:rPr lang="es-CO" sz="1400" b="0" kern="1200" dirty="0">
                          <a:solidFill>
                            <a:schemeClr val="tx1"/>
                          </a:solidFill>
                          <a:latin typeface="Roboto" pitchFamily="2" charset="0"/>
                          <a:ea typeface="Roboto" pitchFamily="2" charset="0"/>
                          <a:cs typeface="+mn-cs"/>
                        </a:rPr>
                        <a:t> (&gt;100 %) y subutilización (&lt;70 %).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11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5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8">
            <a:extLst>
              <a:ext uri="{FF2B5EF4-FFF2-40B4-BE49-F238E27FC236}">
                <a16:creationId xmlns:a16="http://schemas.microsoft.com/office/drawing/2014/main" id="{399617A3-4A2A-F986-BEE7-67732B1C4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516" y="206731"/>
            <a:ext cx="11693310" cy="6631521"/>
          </a:xfrm>
          <a:prstGeom prst="roundRect">
            <a:avLst>
              <a:gd name="adj" fmla="val 8385"/>
            </a:avLst>
          </a:prstGeom>
          <a:noFill/>
          <a:ln w="76200">
            <a:solidFill>
              <a:srgbClr val="9BB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just">
              <a:defRPr/>
            </a:pPr>
            <a:endParaRPr lang="es-CO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  <a:sym typeface="Proxima Nova"/>
            </a:endParaRPr>
          </a:p>
          <a:p>
            <a:pPr lvl="0" algn="just">
              <a:defRPr/>
            </a:pPr>
            <a:endParaRPr lang="es-CO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  <a:sym typeface="Proxima Nova"/>
            </a:endParaRPr>
          </a:p>
          <a:p>
            <a:pPr marL="342900" lvl="0" indent="-342900" algn="ctr">
              <a:buAutoNum type="arabicPeriod"/>
              <a:defRPr/>
            </a:pP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Proxima Nova"/>
              </a:rPr>
              <a:t>Experiencia: CES y NPS Interacción – Me atienden en el catt</a:t>
            </a:r>
          </a:p>
          <a:p>
            <a:endParaRPr lang="es-CO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" name="Rectángulo redondeado 5">
            <a:extLst>
              <a:ext uri="{FF2B5EF4-FFF2-40B4-BE49-F238E27FC236}">
                <a16:creationId xmlns:a16="http://schemas.microsoft.com/office/drawing/2014/main" id="{8AB39D48-D630-CEA5-737E-84823CDFCF45}"/>
              </a:ext>
            </a:extLst>
          </p:cNvPr>
          <p:cNvSpPr/>
          <p:nvPr/>
        </p:nvSpPr>
        <p:spPr>
          <a:xfrm>
            <a:off x="725557" y="450041"/>
            <a:ext cx="3723319" cy="455241"/>
          </a:xfrm>
          <a:prstGeom prst="roundRect">
            <a:avLst>
              <a:gd name="adj" fmla="val 21414"/>
            </a:avLst>
          </a:prstGeom>
          <a:solidFill>
            <a:srgbClr val="9BB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90000"/>
              </a:lnSpc>
              <a:spcBef>
                <a:spcPts val="1000"/>
              </a:spcBef>
              <a:defRPr/>
            </a:pPr>
            <a:r>
              <a:rPr lang="es-CO" sz="2000" b="1" dirty="0">
                <a:solidFill>
                  <a:schemeClr val="tx1"/>
                </a:solidFill>
                <a:latin typeface="Roboto" pitchFamily="2" charset="0"/>
                <a:ea typeface="Roboto" pitchFamily="2" charset="0"/>
                <a:cs typeface="Arial" panose="020B0604020202020204" pitchFamily="34" charset="0"/>
              </a:rPr>
              <a:t>Contexto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81522B4-25DA-6AE9-D55B-B8692B0B12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5827" y="5945253"/>
            <a:ext cx="892999" cy="89299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44AE97D-2FDA-93EF-A8D0-1536D44B94B1}"/>
              </a:ext>
            </a:extLst>
          </p:cNvPr>
          <p:cNvSpPr txBox="1"/>
          <p:nvPr/>
        </p:nvSpPr>
        <p:spPr>
          <a:xfrm>
            <a:off x="568183" y="1008518"/>
            <a:ext cx="53704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s-CO" sz="1600" b="1" dirty="0">
                <a:latin typeface="Roboto" pitchFamily="2" charset="0"/>
                <a:ea typeface="Roboto" pitchFamily="2" charset="0"/>
                <a:cs typeface="Arial" panose="020B0604020202020204" pitchFamily="34" charset="0"/>
                <a:sym typeface="Proxima Nova"/>
              </a:rPr>
              <a:t>PROCESO ACTUAL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FFDF292-315F-618D-7698-C22998C3A678}"/>
              </a:ext>
            </a:extLst>
          </p:cNvPr>
          <p:cNvSpPr txBox="1"/>
          <p:nvPr/>
        </p:nvSpPr>
        <p:spPr>
          <a:xfrm>
            <a:off x="568183" y="1347072"/>
            <a:ext cx="11042073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>
                <a:latin typeface="Roboto" pitchFamily="2" charset="0"/>
                <a:ea typeface="Roboto" pitchFamily="2" charset="0"/>
              </a:rPr>
              <a:t>En Tuya, el dimensionamiento de las iniciativas de TI y la planeación de la capacidad de las células se realiza hoy de forma manual y descentralizada, sin una herramienta que integre la estimación de esfuerzo con la capacidad real del equipo. Actualmente, para estimar una iniciativa el proceso se apoya en los siguientes pasos:</a:t>
            </a:r>
          </a:p>
          <a:p>
            <a:endParaRPr lang="es-CO" sz="1400" dirty="0">
              <a:latin typeface="Roboto" pitchFamily="2" charset="0"/>
              <a:ea typeface="Robo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Cada líder o célula estima el esfuerzo de la iniciativa según su criterio y experiencia, sin un modelo estándar de complejidad ni de tallas.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La estimación se registra en hojas de cálculo o documentos aislados, distintos por equipo, sin un lenguaje común de capacidades ni niveles de </a:t>
            </a:r>
            <a:r>
              <a:rPr lang="es-CO" sz="1400" dirty="0" err="1">
                <a:latin typeface="Roboto" pitchFamily="2" charset="0"/>
                <a:ea typeface="Roboto" pitchFamily="2" charset="0"/>
              </a:rPr>
              <a:t>seniority</a:t>
            </a:r>
            <a:r>
              <a:rPr lang="es-CO" sz="1400" dirty="0">
                <a:latin typeface="Roboto" pitchFamily="2" charset="0"/>
                <a:ea typeface="Roboto" pitchFamily="2" charset="0"/>
              </a:rPr>
              <a:t> (SFIA).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No existe consolidación de la demanda del portafolio, por lo que la suma de esfuerzo de todas las iniciativas activas no se compara contra la capacidad disponible por rol.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1400" dirty="0">
              <a:latin typeface="Roboto" pitchFamily="2" charset="0"/>
              <a:ea typeface="Roboto" pitchFamily="2" charset="0"/>
            </a:endParaRPr>
          </a:p>
          <a:p>
            <a:r>
              <a:rPr lang="es-CO" sz="1400" dirty="0">
                <a:latin typeface="Roboto" pitchFamily="2" charset="0"/>
                <a:ea typeface="Roboto" pitchFamily="2" charset="0"/>
              </a:rPr>
              <a:t>Con la información dispersa, la planeación de recursos se hace de la siguiente manera:</a:t>
            </a:r>
          </a:p>
          <a:p>
            <a:endParaRPr lang="es-CO" sz="1400" dirty="0">
              <a:latin typeface="Roboto" pitchFamily="2" charset="0"/>
              <a:ea typeface="Roboto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La capacidad del equipo (personas, roles y disponibilidad) se conoce parcialmente y no se cruza sistemáticamente con la demanda proyectada, lo que dificulta identificar brechas por capacidad antes de comprometer fechas.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La priorización de iniciativas se decide principalmente por percepción y urgencia del momento, y no con base en datos de esfuerzo, capacidad y balance del portafolio.</a:t>
            </a:r>
          </a:p>
          <a:p>
            <a:pPr marL="342900" indent="-342900">
              <a:buFont typeface="+mj-lt"/>
              <a:buAutoNum type="arabicPeriod"/>
            </a:pPr>
            <a:endParaRPr lang="es-CO" sz="1400" dirty="0">
              <a:latin typeface="Roboto" pitchFamily="2" charset="0"/>
              <a:ea typeface="Roboto" pitchFamily="2" charset="0"/>
            </a:endParaRPr>
          </a:p>
          <a:p>
            <a:r>
              <a:rPr lang="es-CO" sz="1400" dirty="0">
                <a:latin typeface="Roboto" pitchFamily="2" charset="0"/>
                <a:ea typeface="Roboto" pitchFamily="2" charset="0"/>
              </a:rPr>
              <a:t>Como resultado, las estimaciones son poco confiables y difíciles de comparar entre equipos, se presenta </a:t>
            </a:r>
            <a:r>
              <a:rPr lang="es-CO" sz="1400" dirty="0" err="1">
                <a:latin typeface="Roboto" pitchFamily="2" charset="0"/>
                <a:ea typeface="Roboto" pitchFamily="2" charset="0"/>
              </a:rPr>
              <a:t>sobre-asignación</a:t>
            </a:r>
            <a:r>
              <a:rPr lang="es-CO" sz="1400" dirty="0">
                <a:latin typeface="Roboto" pitchFamily="2" charset="0"/>
                <a:ea typeface="Roboto" pitchFamily="2" charset="0"/>
              </a:rPr>
              <a:t> o subutilización de las células, y no hay retroalimentación entre lo estimado y lo real que permita calibrar y mejorar el modelo en el tiempo. En ambos casos - estimación y planeación - NO se cuenta con visibilidad agregada de la capacidad frente a la demanda.</a:t>
            </a:r>
          </a:p>
          <a:p>
            <a:endParaRPr lang="es-CO" sz="1400" dirty="0">
              <a:latin typeface="Roboto" pitchFamily="2" charset="0"/>
              <a:ea typeface="Roboto" pitchFamily="2" charset="0"/>
            </a:endParaRPr>
          </a:p>
          <a:p>
            <a:endParaRPr lang="es-CO" sz="1400" dirty="0"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719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A7C94-08BB-9D3C-CA8D-99F0CD737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8">
            <a:extLst>
              <a:ext uri="{FF2B5EF4-FFF2-40B4-BE49-F238E27FC236}">
                <a16:creationId xmlns:a16="http://schemas.microsoft.com/office/drawing/2014/main" id="{5FCAC300-F852-0CB7-ABCE-F395C13A9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516" y="206731"/>
            <a:ext cx="11693310" cy="6631521"/>
          </a:xfrm>
          <a:prstGeom prst="roundRect">
            <a:avLst>
              <a:gd name="adj" fmla="val 8385"/>
            </a:avLst>
          </a:prstGeom>
          <a:noFill/>
          <a:ln w="76200">
            <a:solidFill>
              <a:srgbClr val="9BB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just">
              <a:defRPr/>
            </a:pPr>
            <a:endParaRPr lang="es-CO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  <a:sym typeface="Proxima Nova"/>
            </a:endParaRPr>
          </a:p>
          <a:p>
            <a:pPr lvl="0" algn="just">
              <a:defRPr/>
            </a:pPr>
            <a:endParaRPr lang="es-CO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  <a:sym typeface="Proxima Nova"/>
            </a:endParaRPr>
          </a:p>
          <a:p>
            <a:pPr marL="342900" lvl="0" indent="-342900" algn="ctr">
              <a:buAutoNum type="arabicPeriod"/>
              <a:defRPr/>
            </a:pP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Proxima Nova"/>
              </a:rPr>
              <a:t>Experiencia: CES y NPS Interacción – Me atienden en el catt</a:t>
            </a:r>
          </a:p>
          <a:p>
            <a:endParaRPr lang="es-CO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5" name="Rectángulo redondeado 5">
            <a:extLst>
              <a:ext uri="{FF2B5EF4-FFF2-40B4-BE49-F238E27FC236}">
                <a16:creationId xmlns:a16="http://schemas.microsoft.com/office/drawing/2014/main" id="{9CF4B1B1-869A-9C63-B1FD-B834F47FE511}"/>
              </a:ext>
            </a:extLst>
          </p:cNvPr>
          <p:cNvSpPr/>
          <p:nvPr/>
        </p:nvSpPr>
        <p:spPr>
          <a:xfrm>
            <a:off x="725557" y="450041"/>
            <a:ext cx="3723319" cy="455241"/>
          </a:xfrm>
          <a:prstGeom prst="roundRect">
            <a:avLst>
              <a:gd name="adj" fmla="val 21414"/>
            </a:avLst>
          </a:prstGeom>
          <a:solidFill>
            <a:srgbClr val="9BB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90000"/>
              </a:lnSpc>
              <a:spcBef>
                <a:spcPts val="1000"/>
              </a:spcBef>
              <a:defRPr/>
            </a:pPr>
            <a:r>
              <a:rPr lang="es-CO" sz="2000" b="1" dirty="0">
                <a:solidFill>
                  <a:schemeClr val="tx1"/>
                </a:solidFill>
                <a:latin typeface="Roboto" pitchFamily="2" charset="0"/>
                <a:ea typeface="Roboto" pitchFamily="2" charset="0"/>
                <a:cs typeface="Arial" panose="020B0604020202020204" pitchFamily="34" charset="0"/>
              </a:rPr>
              <a:t>Contexto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850C7B9-505E-8705-6153-7F966EBF47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5827" y="5945253"/>
            <a:ext cx="892999" cy="89299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C00CF69-A487-63C3-66C7-A121C7E1A7E5}"/>
              </a:ext>
            </a:extLst>
          </p:cNvPr>
          <p:cNvSpPr txBox="1"/>
          <p:nvPr/>
        </p:nvSpPr>
        <p:spPr>
          <a:xfrm>
            <a:off x="568183" y="1008518"/>
            <a:ext cx="53704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s-CO" sz="1600" b="1" dirty="0">
                <a:latin typeface="Roboto" pitchFamily="2" charset="0"/>
                <a:ea typeface="Roboto" pitchFamily="2" charset="0"/>
                <a:cs typeface="Arial" panose="020B0604020202020204" pitchFamily="34" charset="0"/>
                <a:sym typeface="Proxima Nova"/>
              </a:rPr>
              <a:t>PROCESO PROPUESTO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FEDC71C-F7D5-391D-9D32-1166B87B3D89}"/>
              </a:ext>
            </a:extLst>
          </p:cNvPr>
          <p:cNvSpPr txBox="1"/>
          <p:nvPr/>
        </p:nvSpPr>
        <p:spPr>
          <a:xfrm>
            <a:off x="725557" y="1450308"/>
            <a:ext cx="1104207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>
                <a:latin typeface="Roboto" pitchFamily="2" charset="0"/>
                <a:ea typeface="Roboto" pitchFamily="2" charset="0"/>
              </a:rPr>
              <a:t>Se necesita que el líder o la célula pueda dimensionar sus iniciativas y planear la capacidad a través de la plataforma siguiendo los siguientes pasos:</a:t>
            </a:r>
            <a:br>
              <a:rPr lang="es-CO" sz="1400" dirty="0">
                <a:latin typeface="Roboto" pitchFamily="2" charset="0"/>
                <a:ea typeface="Roboto" pitchFamily="2" charset="0"/>
              </a:rPr>
            </a:br>
            <a:endParaRPr lang="es-CO" sz="1400" dirty="0">
              <a:latin typeface="Roboto" pitchFamily="2" charset="0"/>
              <a:ea typeface="Robo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El usuario ingresa a la plataforma y registra la iniciativa respondiendo un tamizaje inicial que define si requiere evaluación completa o vía rápida.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Completa el formulario de evaluación de las 7 dimensiones de complejidad, y la plataforma calcula automáticamente la talla, el esfuerzo (PM), el FTE (esperado, optimista y pesimista) y el </a:t>
            </a:r>
            <a:r>
              <a:rPr lang="es-CO" sz="1400" dirty="0" err="1">
                <a:latin typeface="Roboto" pitchFamily="2" charset="0"/>
                <a:ea typeface="Roboto" pitchFamily="2" charset="0"/>
              </a:rPr>
              <a:t>mix</a:t>
            </a:r>
            <a:r>
              <a:rPr lang="es-CO" sz="1400" dirty="0">
                <a:latin typeface="Roboto" pitchFamily="2" charset="0"/>
                <a:ea typeface="Roboto" pitchFamily="2" charset="0"/>
              </a:rPr>
              <a:t> de capacidades con el nivel SFIA requerido.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La iniciativa se guarda en el portafolio con su estado (Evaluación, Activa o Cerrada); al marcarla como Activa se incluye automáticamente en la demanda de capacidad.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El usuario registra el equipo de personas con su rol, nivel SFIA y FTE disponible, y asigna a cada persona un porcentaje de dedicación sobre las capacidades que demanda la iniciativa, visualizando la cobertura y la utilización en tiempo real.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La plataforma compara automáticamente la capacidad disponible por rol contra la demanda de las iniciativas activas, mostrando brechas, FTE libre y balance por capacidad para anticipar déficits antes de comprometer fechas.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El usuario ubica las iniciativas en un </a:t>
            </a:r>
            <a:r>
              <a:rPr lang="es-CO" sz="1400" dirty="0" err="1">
                <a:latin typeface="Roboto" pitchFamily="2" charset="0"/>
                <a:ea typeface="Roboto" pitchFamily="2" charset="0"/>
              </a:rPr>
              <a:t>roadmap</a:t>
            </a:r>
            <a:r>
              <a:rPr lang="es-CO" sz="1400" dirty="0">
                <a:latin typeface="Roboto" pitchFamily="2" charset="0"/>
                <a:ea typeface="Roboto" pitchFamily="2" charset="0"/>
              </a:rPr>
              <a:t> por </a:t>
            </a:r>
            <a:r>
              <a:rPr lang="es-CO" sz="1400" dirty="0" err="1">
                <a:latin typeface="Roboto" pitchFamily="2" charset="0"/>
                <a:ea typeface="Roboto" pitchFamily="2" charset="0"/>
              </a:rPr>
              <a:t>sprints</a:t>
            </a:r>
            <a:r>
              <a:rPr lang="es-CO" sz="1400" dirty="0">
                <a:latin typeface="Roboto" pitchFamily="2" charset="0"/>
                <a:ea typeface="Roboto" pitchFamily="2" charset="0"/>
              </a:rPr>
              <a:t> y trimestres con fechas estimadas y reales, para visualizar la secuencia de ejecución del portafolio.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Al cerrar una iniciativa, se registran el FTE y la duración reales; la plataforma calcula la desviación frente a lo estimado y sugiere un factor de ajuste para calibrar el modelo.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El administrador puede recalibrar los parámetros del modelo (pesos, tallas, esfuerzo, </a:t>
            </a:r>
            <a:r>
              <a:rPr lang="es-CO" sz="1400" dirty="0" err="1">
                <a:latin typeface="Roboto" pitchFamily="2" charset="0"/>
                <a:ea typeface="Roboto" pitchFamily="2" charset="0"/>
              </a:rPr>
              <a:t>mix</a:t>
            </a:r>
            <a:r>
              <a:rPr lang="es-CO" sz="1400" dirty="0">
                <a:latin typeface="Roboto" pitchFamily="2" charset="0"/>
                <a:ea typeface="Roboto" pitchFamily="2" charset="0"/>
              </a:rPr>
              <a:t> y escalas) y respaldar toda la información mediante exportación e importación, garantizando la continuidad del trabajo entre sesiones.</a:t>
            </a:r>
          </a:p>
        </p:txBody>
      </p:sp>
    </p:spTree>
    <p:extLst>
      <p:ext uri="{BB962C8B-B14F-4D97-AF65-F5344CB8AC3E}">
        <p14:creationId xmlns:p14="http://schemas.microsoft.com/office/powerpoint/2010/main" val="4143848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8">
            <a:extLst>
              <a:ext uri="{FF2B5EF4-FFF2-40B4-BE49-F238E27FC236}">
                <a16:creationId xmlns:a16="http://schemas.microsoft.com/office/drawing/2014/main" id="{82EF81F5-D4EA-CE78-CB6F-24BACB3DC2A3}"/>
              </a:ext>
            </a:extLst>
          </p:cNvPr>
          <p:cNvSpPr/>
          <p:nvPr/>
        </p:nvSpPr>
        <p:spPr>
          <a:xfrm>
            <a:off x="98546" y="116304"/>
            <a:ext cx="11929465" cy="6561587"/>
          </a:xfrm>
          <a:prstGeom prst="roundRect">
            <a:avLst>
              <a:gd name="adj" fmla="val 8385"/>
            </a:avLst>
          </a:prstGeom>
          <a:noFill/>
          <a:ln w="76200">
            <a:solidFill>
              <a:srgbClr val="9BB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Roboto" pitchFamily="2" charset="0"/>
              <a:ea typeface="Roboto" pitchFamily="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971302C-5A34-F8B3-09EA-E7D420A7D5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466" y="5848697"/>
            <a:ext cx="892999" cy="892999"/>
          </a:xfrm>
          <a:prstGeom prst="rect">
            <a:avLst/>
          </a:prstGeom>
        </p:spPr>
      </p:pic>
      <p:sp>
        <p:nvSpPr>
          <p:cNvPr id="3" name="Rectángulo redondeado 5">
            <a:extLst>
              <a:ext uri="{FF2B5EF4-FFF2-40B4-BE49-F238E27FC236}">
                <a16:creationId xmlns:a16="http://schemas.microsoft.com/office/drawing/2014/main" id="{F63B21B0-3B43-38D7-34DA-56AA1EB040F0}"/>
              </a:ext>
            </a:extLst>
          </p:cNvPr>
          <p:cNvSpPr/>
          <p:nvPr/>
        </p:nvSpPr>
        <p:spPr>
          <a:xfrm>
            <a:off x="476174" y="371469"/>
            <a:ext cx="6243280" cy="455241"/>
          </a:xfrm>
          <a:prstGeom prst="roundRect">
            <a:avLst>
              <a:gd name="adj" fmla="val 21414"/>
            </a:avLst>
          </a:prstGeom>
          <a:solidFill>
            <a:srgbClr val="9BB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2000" b="1" dirty="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Requisitos funcionales </a:t>
            </a:r>
            <a:r>
              <a:rPr lang="es-CO" sz="2000" b="1" strike="sngStrike" dirty="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(Acompañamiento Técnico)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AA16109-8426-81B7-AE9B-D69A9D31CC9E}"/>
              </a:ext>
            </a:extLst>
          </p:cNvPr>
          <p:cNvSpPr txBox="1"/>
          <p:nvPr/>
        </p:nvSpPr>
        <p:spPr>
          <a:xfrm>
            <a:off x="368709" y="1350905"/>
            <a:ext cx="11389138" cy="425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La plataforma de dimensionamiento debe habilitarse como una herramienta web de autogestión para los líderes y células de TI.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Debe permitir evaluar iniciativas mediante tamizaje y formulario de complejidad, calculando automáticamente talla, esfuerzo (PM), FTE y </a:t>
            </a:r>
            <a:r>
              <a:rPr lang="es-CO" sz="1400" dirty="0" err="1">
                <a:latin typeface="Roboto" pitchFamily="2" charset="0"/>
                <a:ea typeface="Roboto" pitchFamily="2" charset="0"/>
              </a:rPr>
              <a:t>mix</a:t>
            </a:r>
            <a:r>
              <a:rPr lang="es-CO" sz="1400" dirty="0">
                <a:latin typeface="Roboto" pitchFamily="2" charset="0"/>
                <a:ea typeface="Roboto" pitchFamily="2" charset="0"/>
              </a:rPr>
              <a:t> de capacidades con nivel SFIA.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Debe gestionar un portafolio de iniciativas con estados (Evaluación, Activa, Cerrada) y consolidar la demanda de las iniciativas activas.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Debe permitir registrar el equipo de personas (rol, nivel SFIA y FTE) y asignarlo a las iniciativas por porcentaje de dedicación, con control de cobertura y utilización.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Debe comparar automáticamente la capacidad disponible contra la demanda por capacidad, mostrando brechas y balance.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La lógica de negocio (cálculo de tallas, esfuerzo, </a:t>
            </a:r>
            <a:r>
              <a:rPr lang="es-CO" sz="1400" dirty="0" err="1">
                <a:latin typeface="Roboto" pitchFamily="2" charset="0"/>
                <a:ea typeface="Roboto" pitchFamily="2" charset="0"/>
              </a:rPr>
              <a:t>mix</a:t>
            </a:r>
            <a:r>
              <a:rPr lang="es-CO" sz="1400" dirty="0">
                <a:latin typeface="Roboto" pitchFamily="2" charset="0"/>
                <a:ea typeface="Roboto" pitchFamily="2" charset="0"/>
              </a:rPr>
              <a:t>, SFIA y demanda) debe estar centralizada y ser parametrizable/</a:t>
            </a:r>
            <a:r>
              <a:rPr lang="es-CO" sz="1400" dirty="0" err="1">
                <a:latin typeface="Roboto" pitchFamily="2" charset="0"/>
                <a:ea typeface="Roboto" pitchFamily="2" charset="0"/>
              </a:rPr>
              <a:t>recalibrable</a:t>
            </a:r>
            <a:r>
              <a:rPr lang="es-CO" sz="1400" dirty="0">
                <a:latin typeface="Roboto" pitchFamily="2" charset="0"/>
                <a:ea typeface="Roboto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El servicio debe cumplir con los parámetros de seguridad definidos por la compañía.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Debe garantizar la persistencia de la información y permitir respaldo mediante exportación e importación de datos.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Se deben realizar certificaciones de pruebas funcionales antes de su liberación.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Debe permitir la calibración de estimaciones con datos reales, registrando desviaciones y factor de ajuste para trazabilidad del modelo.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Se necesita generar reportes del portafolio, la capacidad y las asignaciones para la planeación y toma de decisiones.</a:t>
            </a:r>
          </a:p>
        </p:txBody>
      </p:sp>
    </p:spTree>
    <p:extLst>
      <p:ext uri="{BB962C8B-B14F-4D97-AF65-F5344CB8AC3E}">
        <p14:creationId xmlns:p14="http://schemas.microsoft.com/office/powerpoint/2010/main" val="27940714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A5277-7325-850D-7D9E-46EE31C78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10998881-B443-B6BD-97F4-2D5A2AD445B1}"/>
              </a:ext>
            </a:extLst>
          </p:cNvPr>
          <p:cNvSpPr/>
          <p:nvPr/>
        </p:nvSpPr>
        <p:spPr>
          <a:xfrm>
            <a:off x="135852" y="222638"/>
            <a:ext cx="11931457" cy="6441398"/>
          </a:xfrm>
          <a:prstGeom prst="roundRect">
            <a:avLst>
              <a:gd name="adj" fmla="val 8385"/>
            </a:avLst>
          </a:prstGeom>
          <a:noFill/>
          <a:ln w="76200">
            <a:solidFill>
              <a:srgbClr val="9BB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Roboto" pitchFamily="2" charset="0"/>
              <a:ea typeface="Roboto" pitchFamily="2" charset="0"/>
              <a:cs typeface="Arial" panose="020B06040202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F336CCD-E66A-E627-FA3A-07458D4838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5791" y="5840100"/>
            <a:ext cx="892999" cy="892999"/>
          </a:xfrm>
          <a:prstGeom prst="rect">
            <a:avLst/>
          </a:prstGeom>
        </p:spPr>
      </p:pic>
      <p:sp>
        <p:nvSpPr>
          <p:cNvPr id="2" name="Rectángulo redondeado 5">
            <a:extLst>
              <a:ext uri="{FF2B5EF4-FFF2-40B4-BE49-F238E27FC236}">
                <a16:creationId xmlns:a16="http://schemas.microsoft.com/office/drawing/2014/main" id="{988BB0E0-F5B4-E63C-6FED-93FABB5804C2}"/>
              </a:ext>
            </a:extLst>
          </p:cNvPr>
          <p:cNvSpPr/>
          <p:nvPr/>
        </p:nvSpPr>
        <p:spPr>
          <a:xfrm>
            <a:off x="490027" y="393468"/>
            <a:ext cx="6534227" cy="455241"/>
          </a:xfrm>
          <a:prstGeom prst="roundRect">
            <a:avLst>
              <a:gd name="adj" fmla="val 21414"/>
            </a:avLst>
          </a:prstGeom>
          <a:solidFill>
            <a:srgbClr val="9BB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2000" b="1" dirty="0">
                <a:solidFill>
                  <a:schemeClr val="tx1"/>
                </a:solidFill>
                <a:latin typeface="Roboto" pitchFamily="2" charset="0"/>
                <a:ea typeface="Roboto" pitchFamily="2" charset="0"/>
              </a:rPr>
              <a:t>Requisitos No funcionales (Acompañamiento Técnico)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3FF0875-B5D0-F30C-B386-2A4E2C15AF09}"/>
              </a:ext>
            </a:extLst>
          </p:cNvPr>
          <p:cNvSpPr txBox="1"/>
          <p:nvPr/>
        </p:nvSpPr>
        <p:spPr>
          <a:xfrm>
            <a:off x="283339" y="1019539"/>
            <a:ext cx="11389138" cy="3288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El servicio debe soportar 3 TPS en operación normal.</a:t>
            </a: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El servicio debe soportar 5 TPS en alta concurrencia (Durante la planeación de un Q). </a:t>
            </a: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El servicio debe ser responsive (Celular, Tablet y PC).</a:t>
            </a: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La información sensible debe viajar encriptada.</a:t>
            </a: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Solo se le debe permitir ejecutar el proceso a los clientes autenticados exitosamente.</a:t>
            </a: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Es BIA: No</a:t>
            </a: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Es misional: No</a:t>
            </a: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Circular 005: Si</a:t>
            </a: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Usará de canales de comunicación: No</a:t>
            </a: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O" sz="1400" dirty="0">
                <a:latin typeface="Roboto" pitchFamily="2" charset="0"/>
                <a:ea typeface="Roboto" pitchFamily="2" charset="0"/>
              </a:rPr>
              <a:t>Requieren crecimiento:</a:t>
            </a:r>
          </a:p>
        </p:txBody>
      </p:sp>
    </p:spTree>
    <p:extLst>
      <p:ext uri="{BB962C8B-B14F-4D97-AF65-F5344CB8AC3E}">
        <p14:creationId xmlns:p14="http://schemas.microsoft.com/office/powerpoint/2010/main" val="41195581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B9C9DCB9A84FA4487893386994151CA" ma:contentTypeVersion="4" ma:contentTypeDescription="Crear nuevo documento." ma:contentTypeScope="" ma:versionID="b77cca2b59d3ac5847a689273da76a83">
  <xsd:schema xmlns:xsd="http://www.w3.org/2001/XMLSchema" xmlns:xs="http://www.w3.org/2001/XMLSchema" xmlns:p="http://schemas.microsoft.com/office/2006/metadata/properties" xmlns:ns2="93c9256f-227e-42a9-bb24-658a0698fb33" targetNamespace="http://schemas.microsoft.com/office/2006/metadata/properties" ma:root="true" ma:fieldsID="649e45e96947b6358cc99f36527483ef" ns2:_="">
    <xsd:import namespace="93c9256f-227e-42a9-bb24-658a0698fb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c9256f-227e-42a9-bb24-658a0698fb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C44CE9-99D1-4FFF-B883-B8DFA87AA1CF}">
  <ds:schemaRefs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09d509a5-37e4-4a79-bc51-aa38effd58db"/>
    <ds:schemaRef ds:uri="http://schemas.microsoft.com/office/infopath/2007/PartnerControls"/>
    <ds:schemaRef ds:uri="http://schemas.microsoft.com/office/2006/metadata/properties"/>
    <ds:schemaRef ds:uri="http://purl.org/dc/elements/1.1/"/>
    <ds:schemaRef ds:uri="211f6a74-7baf-4234-b70a-739be6b24cb7"/>
    <ds:schemaRef ds:uri="http://purl.org/dc/dcmitype/"/>
    <ds:schemaRef ds:uri="17d67bbd-66e3-45d7-9fd5-76f77f529ca1"/>
    <ds:schemaRef ds:uri="745b90be-3498-4ece-a4d7-204a413a7117"/>
  </ds:schemaRefs>
</ds:datastoreItem>
</file>

<file path=customXml/itemProps2.xml><?xml version="1.0" encoding="utf-8"?>
<ds:datastoreItem xmlns:ds="http://schemas.openxmlformats.org/officeDocument/2006/customXml" ds:itemID="{F36A76CB-3386-4DC9-B9CC-B62120DDB2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c9256f-227e-42a9-bb24-658a0698fb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48998E-F6EB-4F0F-9F58-2B4B8B7AB5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3522</TotalTime>
  <Words>1272</Words>
  <Application>Microsoft Office PowerPoint</Application>
  <PresentationFormat>Panorámica</PresentationFormat>
  <Paragraphs>72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Roboto</vt:lpstr>
      <vt:lpstr>Tema de Office</vt:lpstr>
      <vt:lpstr>DOR: PLATAFORMA CAPACIDAD Y DIMENSIONAMIENTO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Compañia de Financiamiento TUYA S.A.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Ricardo Alfredo Valencia Moreno</dc:creator>
  <cp:lastModifiedBy>Estiben Alexander Licona Urrego</cp:lastModifiedBy>
  <cp:revision>124</cp:revision>
  <dcterms:created xsi:type="dcterms:W3CDTF">2020-04-13T23:39:05Z</dcterms:created>
  <dcterms:modified xsi:type="dcterms:W3CDTF">2026-07-23T19:47:21Z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0x010100DB9C9DCB9A84FA4487893386994151CA</vt:lpwstr>
  </property>
  <property fmtid="{D5CDD505-2E9C-101B-9397-08002B2CF9AE}" pid="3" name="Order">
    <vt:r8>55900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MediaServiceImageTags">
    <vt:lpwstr/>
  </property>
</Properties>
</file>